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and authors supplied by the project team. Scope: implemented CV quality layer, with future battery-health validation planned.</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context: NREL Battery Lifespan research, https://www.nrel.gov/transportation/battery-lifespan.html. CV and model limitations are findings from this repository.</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NREL https://www.nrel.gov/transportation/battery-lifespan.html ; Gamry Echem Analyst manual https://www.gamry.com/assets/Uploads/EchemAnalystSoftwareManual.pdf ; battery SoH ML on labeled cells https://arxiv.org/abs/2102.00837 . No claim of unique invention or superiority over existing CV tools.</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implemented in the repo. Phase 2 requires repeated measurements and independent capacity labels. Phase 3 requires a calibrated model that updates for an identified physical battery. Figure is generated from research/generate_conference_figures.py. SINk 2026 organiser theme context: https://www.linkedin.com/posts/dr-vishal-chaudhary_schedule-activity-7508161441263304704-ga_Y . The fit is electrochemical sensing linked to interpretable decisions, with an energy application.</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 preserve ordered CSV; require explicit units in the live API; check forward and return branch, closure and interior extrema; report only supported descriptors. The synthetic RF model is a separate dataset and not connected to the measured trace. Figure generated from repository source.</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attached_assets/14,12csv_1765724360390.csv and research/experimental_metadata.json. Current is plotted in µA only under a provisional assumption that the source numbers are amperes. Team reports experimental origin, but original instrument export is unavailable.</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supplied 21-point CSV, analyzed by research/cv_sensor_study.py and the live API. The signed path integral is approximately -1.75e-7 A·V under the provisional ampere assumption; it is not charge, energy or capacity.</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research/results/sensor_report.json, seed 20260926. Gaussian peak simulation: +/-0.10 V peaks, 3 microamp amplitude, 10 mV sampling. Independent Gaussian current noise. At 10% current noise: median absolute separation error 10 mV, empirical 95th percentile 30.5 mV across 200 seeded replicates. This measures software extractor sensitivity under one signal model. It is not an instrument error specification or physical battery accuracy. The single experimental scan has 50 mV potential increments and no reference peak or repeats, so physical sensing accuracy is unknown.</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ml/training_data.csv and research/conference_figures/figure_metrics.json. Features were generated from the synthetic SoH trajectory. Random row split: RMSE 1.0072 SoH points, MAE 0.7460 points, R2 0.997608. Last 30 cycles held out: RMSE 14.7183 points, MAE 13.1128 points, R2 -3.771964. R2 is a regression fit measure, not classification accuracy. Neither test validates a physical cell. The live API does not run this model.</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limited to implemented software behavior and one team-reported experimental trace. The project has no independently measured capacity labels, so it cannot claim health prediction accuracy or a complete digital twin.</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proposal, not achieved results. The original 21-point CSV has no capacity target or complete acquisition metadata. Proposed physical validation follows the principles of separated cells and independently measured outcomes.</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URLs: https://www.nrel.gov/transportation/battery-lifespan.html ; https://pubs.acs.org/doi/10.1021/acs.jchemed.7b00361 ; https://www.gamry.com/assets/Uploads/EchemAnalystSoftwareManual.pdf ; https://doi.org/10.1016/j.egyai.2020.100016 ; https://arxiv.org/abs/2102.00837 .</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reported graphite, platinum and Ag/AgCl. Exact roles, material and electrolyte are not documented.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team-reported 21-point experimental trace. Time and scan rate unavailable.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team-reported experimental trace; current unit provisional.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the same 21 points. Descriptive curve, no mechanism attribution.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size cannot determine scan rate without timestamps.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 under the provisional ampere interpretation. This is not charge or energy.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ml/training_data.csv; no measured capacity values.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derive from generated SoH labels; correlations are not physical discovery. Figure generated by research/generate_conference_figures.py from repository data.</a:t>
            </a:r>
          </a:p>
          <a:p>
            <a:r>
              <a:t>Logo source: https://d2lk14jtvqry1q.cloudfront.net/media/large_89_9b01402b5b_926235f86d.png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4" name="TextBox 3"/>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01</a:t>
            </a:r>
          </a:p>
        </p:txBody>
      </p:sp>
      <p:sp>
        <p:nvSpPr>
          <p:cNvPr id="5" name="TextBox 4"/>
          <p:cNvSpPr txBox="1"/>
          <p:nvPr/>
        </p:nvSpPr>
        <p:spPr>
          <a:xfrm>
            <a:off x="731520" y="1417320"/>
            <a:ext cx="10607040" cy="676656"/>
          </a:xfrm>
          <a:prstGeom prst="rect">
            <a:avLst/>
          </a:prstGeom>
          <a:noFill/>
        </p:spPr>
        <p:txBody>
          <a:bodyPr wrap="square" lIns="18288" rIns="18288" tIns="9144" bIns="9144">
            <a:spAutoFit/>
          </a:bodyPr>
          <a:lstStyle/>
          <a:p>
            <a:pPr>
              <a:defRPr sz="4300" b="1">
                <a:solidFill>
                  <a:srgbClr val="16304B"/>
                </a:solidFill>
                <a:latin typeface="Aptos"/>
              </a:defRPr>
            </a:pPr>
            <a:r>
              <a:t>Toward a battery digital twin</a:t>
            </a:r>
          </a:p>
        </p:txBody>
      </p:sp>
      <p:sp>
        <p:nvSpPr>
          <p:cNvPr id="6" name="TextBox 5"/>
          <p:cNvSpPr txBox="1"/>
          <p:nvPr/>
        </p:nvSpPr>
        <p:spPr>
          <a:xfrm>
            <a:off x="749808" y="2176272"/>
            <a:ext cx="10607040" cy="475488"/>
          </a:xfrm>
          <a:prstGeom prst="rect">
            <a:avLst/>
          </a:prstGeom>
          <a:noFill/>
        </p:spPr>
        <p:txBody>
          <a:bodyPr wrap="square" lIns="18288" rIns="18288" tIns="9144" bIns="9144">
            <a:spAutoFit/>
          </a:bodyPr>
          <a:lstStyle/>
          <a:p>
            <a:pPr>
              <a:defRPr sz="2800" b="0">
                <a:solidFill>
                  <a:srgbClr val="1A6EA7"/>
                </a:solidFill>
                <a:latin typeface="Aptos"/>
              </a:defRPr>
            </a:pPr>
            <a:r>
              <a:t>Phase 1: reliable cyclic voltammetry evidence</a:t>
            </a:r>
          </a:p>
        </p:txBody>
      </p:sp>
      <p:sp>
        <p:nvSpPr>
          <p:cNvPr id="7" name="TextBox 6"/>
          <p:cNvSpPr txBox="1"/>
          <p:nvPr/>
        </p:nvSpPr>
        <p:spPr>
          <a:xfrm>
            <a:off x="758952" y="3977639"/>
            <a:ext cx="10424160" cy="384048"/>
          </a:xfrm>
          <a:prstGeom prst="rect">
            <a:avLst/>
          </a:prstGeom>
          <a:noFill/>
        </p:spPr>
        <p:txBody>
          <a:bodyPr wrap="square" lIns="18288" rIns="18288" tIns="9144" bIns="9144">
            <a:spAutoFit/>
          </a:bodyPr>
          <a:lstStyle/>
          <a:p>
            <a:pPr>
              <a:defRPr sz="2300" b="0">
                <a:solidFill>
                  <a:srgbClr val="16304B"/>
                </a:solidFill>
                <a:latin typeface="Aptos"/>
              </a:defRPr>
            </a:pPr>
            <a:r>
              <a:t>Cheritha Kaiwar  ·  Prajwal S  ·  Karan Koder</a:t>
            </a:r>
          </a:p>
        </p:txBody>
      </p:sp>
      <p:sp>
        <p:nvSpPr>
          <p:cNvPr id="8" name="TextBox 7"/>
          <p:cNvSpPr txBox="1"/>
          <p:nvPr/>
        </p:nvSpPr>
        <p:spPr>
          <a:xfrm>
            <a:off x="758952" y="4480560"/>
            <a:ext cx="10424160" cy="356616"/>
          </a:xfrm>
          <a:prstGeom prst="rect">
            <a:avLst/>
          </a:prstGeom>
          <a:noFill/>
        </p:spPr>
        <p:txBody>
          <a:bodyPr wrap="square" lIns="18288" rIns="18288" tIns="9144" bIns="9144">
            <a:spAutoFit/>
          </a:bodyPr>
          <a:lstStyle/>
          <a:p>
            <a:pPr>
              <a:defRPr sz="2000" b="0">
                <a:solidFill>
                  <a:srgbClr val="4E6171"/>
                </a:solidFill>
                <a:latin typeface="Aptos"/>
              </a:defRPr>
            </a:pPr>
            <a:r>
              <a:t>Under the guidance of Dr. Manjunatha C.</a:t>
            </a:r>
          </a:p>
        </p:txBody>
      </p:sp>
      <p:sp>
        <p:nvSpPr>
          <p:cNvPr id="9" name="TextBox 8"/>
          <p:cNvSpPr txBox="1"/>
          <p:nvPr/>
        </p:nvSpPr>
        <p:spPr>
          <a:xfrm>
            <a:off x="758952" y="5138928"/>
            <a:ext cx="10424160" cy="320040"/>
          </a:xfrm>
          <a:prstGeom prst="rect">
            <a:avLst/>
          </a:prstGeom>
          <a:noFill/>
        </p:spPr>
        <p:txBody>
          <a:bodyPr wrap="square" lIns="18288" rIns="18288" tIns="9144" bIns="9144">
            <a:spAutoFit/>
          </a:bodyPr>
          <a:lstStyle/>
          <a:p>
            <a:pPr>
              <a:defRPr sz="1700" b="0">
                <a:solidFill>
                  <a:srgbClr val="1A6EA7"/>
                </a:solidFill>
                <a:latin typeface="Aptos"/>
              </a:defRPr>
            </a:pPr>
            <a:r>
              <a:t>RV College of Engineering, Bengaluru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Problem statement</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02</a:t>
            </a:r>
          </a:p>
        </p:txBody>
      </p:sp>
      <p:sp>
        <p:nvSpPr>
          <p:cNvPr id="6" name="TextBox 5"/>
          <p:cNvSpPr txBox="1"/>
          <p:nvPr/>
        </p:nvSpPr>
        <p:spPr>
          <a:xfrm>
            <a:off x="749808" y="1399032"/>
            <a:ext cx="10424160" cy="1005840"/>
          </a:xfrm>
          <a:prstGeom prst="rect">
            <a:avLst/>
          </a:prstGeom>
          <a:noFill/>
        </p:spPr>
        <p:txBody>
          <a:bodyPr wrap="square" lIns="18288" rIns="18288" tIns="9144" bIns="9144">
            <a:spAutoFit/>
          </a:bodyPr>
          <a:lstStyle/>
          <a:p>
            <a:pPr>
              <a:defRPr sz="3000" b="1">
                <a:solidFill>
                  <a:srgbClr val="16304B"/>
                </a:solidFill>
                <a:latin typeface="Aptos"/>
              </a:defRPr>
            </a:pPr>
            <a:r>
              <a:t>Industry needs battery diagnostics grounded in reliable measurements.</a:t>
            </a:r>
          </a:p>
        </p:txBody>
      </p:sp>
      <p:sp>
        <p:nvSpPr>
          <p:cNvPr id="7" name="TextBox 6"/>
          <p:cNvSpPr txBox="1"/>
          <p:nvPr/>
        </p:nvSpPr>
        <p:spPr>
          <a:xfrm>
            <a:off x="786384" y="2761488"/>
            <a:ext cx="10515600" cy="2286000"/>
          </a:xfrm>
          <a:prstGeom prst="rect">
            <a:avLst/>
          </a:prstGeom>
          <a:noFill/>
        </p:spPr>
        <p:txBody>
          <a:bodyPr wrap="square" lIns="18288" rIns="18288" tIns="18288" bIns="18288">
            <a:spAutoFit/>
          </a:bodyPr>
          <a:lstStyle/>
          <a:p>
            <a:pPr>
              <a:spcAft>
                <a:spcPts val="2000"/>
              </a:spcAft>
              <a:defRPr sz="2100">
                <a:solidFill>
                  <a:srgbClr val="16304B"/>
                </a:solidFill>
                <a:latin typeface="Aptos"/>
              </a:defRPr>
            </a:pPr>
            <a:r>
              <a:t>A CV trace can have missing units or acquisition details.</a:t>
            </a:r>
          </a:p>
          <a:p>
            <a:pPr>
              <a:spcAft>
                <a:spcPts val="2000"/>
              </a:spcAft>
              <a:defRPr sz="2100">
                <a:solidFill>
                  <a:srgbClr val="16304B"/>
                </a:solidFill>
                <a:latin typeface="Aptos"/>
              </a:defRPr>
            </a:pPr>
            <a:r>
              <a:t>A scan boundary can cut off a peak and make its potential unknowable.</a:t>
            </a:r>
          </a:p>
          <a:p>
            <a:pPr>
              <a:spcAft>
                <a:spcPts val="2000"/>
              </a:spcAft>
              <a:defRPr sz="2100">
                <a:solidFill>
                  <a:srgbClr val="16304B"/>
                </a:solidFill>
                <a:latin typeface="Aptos"/>
              </a:defRPr>
            </a:pPr>
            <a:r>
              <a:t>A health model trained on generated labels cannot establish physical-cell accuracy.</a:t>
            </a:r>
          </a:p>
        </p:txBody>
      </p:sp>
      <p:sp>
        <p:nvSpPr>
          <p:cNvPr id="8" name="TextBox 7"/>
          <p:cNvSpPr txBox="1"/>
          <p:nvPr/>
        </p:nvSpPr>
        <p:spPr>
          <a:xfrm>
            <a:off x="768096" y="5669280"/>
            <a:ext cx="10698480" cy="475488"/>
          </a:xfrm>
          <a:prstGeom prst="rect">
            <a:avLst/>
          </a:prstGeom>
          <a:noFill/>
        </p:spPr>
        <p:txBody>
          <a:bodyPr wrap="square" lIns="18288" rIns="18288" tIns="9144" bIns="9144">
            <a:spAutoFit/>
          </a:bodyPr>
          <a:lstStyle/>
          <a:p>
            <a:pPr>
              <a:defRPr sz="2100" b="1">
                <a:solidFill>
                  <a:srgbClr val="118580"/>
                </a:solidFill>
                <a:latin typeface="Aptos"/>
              </a:defRPr>
            </a:pPr>
            <a:r>
              <a:t>Engineering need: check the evidence before reporting features or health estimates.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Existing solutions and our contribution</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03</a:t>
            </a:r>
          </a:p>
        </p:txBody>
      </p:sp>
      <p:graphicFrame>
        <p:nvGraphicFramePr>
          <p:cNvPr id="6" name="Table 5"/>
          <p:cNvGraphicFramePr>
            <a:graphicFrameLocks noGrp="1"/>
          </p:cNvGraphicFramePr>
          <p:nvPr/>
        </p:nvGraphicFramePr>
        <p:xfrm>
          <a:off x="704088" y="1417320"/>
          <a:ext cx="10735056" cy="4526280"/>
        </p:xfrm>
        <a:graphic>
          <a:graphicData uri="http://schemas.openxmlformats.org/drawingml/2006/table">
            <a:tbl>
              <a:tblPr firstRow="1" bandRow="1">
                <a:tableStyleId>{5C22544A-7EE6-4342-B048-85BDC9FD1C3A}</a:tableStyleId>
              </a:tblPr>
              <a:tblGrid>
                <a:gridCol w="3172968"/>
                <a:gridCol w="7562088"/>
              </a:tblGrid>
              <a:tr h="1131570">
                <a:tc>
                  <a:txBody>
                    <a:bodyPr/>
                    <a:lstStyle/>
                    <a:p>
                      <a:pPr>
                        <a:defRPr sz="2000" b="1">
                          <a:solidFill>
                            <a:srgbClr val="16304B"/>
                          </a:solidFill>
                          <a:latin typeface="Aptos"/>
                        </a:defRPr>
                      </a:pPr>
                      <a:r>
                        <a:t>Battery management</a:t>
                      </a:r>
                    </a:p>
                  </a:txBody>
                  <a:tcPr marL="137160" marR="137160" marT="82296" marB="82296" anchor="ctr">
                    <a:solidFill>
                      <a:srgbClr val="FFFFFF"/>
                    </a:solidFill>
                  </a:tcPr>
                </a:tc>
                <a:tc>
                  <a:txBody>
                    <a:bodyPr/>
                    <a:lstStyle/>
                    <a:p>
                      <a:pPr>
                        <a:defRPr sz="1800" b="0">
                          <a:solidFill>
                            <a:srgbClr val="4E6171"/>
                          </a:solidFill>
                          <a:latin typeface="Aptos"/>
                        </a:defRPr>
                      </a:pPr>
                      <a:r>
                        <a:t>Uses operating voltage, current and temperature to estimate state.</a:t>
                      </a:r>
                    </a:p>
                  </a:txBody>
                  <a:tcPr marL="137160" marR="137160" marT="82296" marB="82296" anchor="ctr">
                    <a:solidFill>
                      <a:srgbClr val="FFFFFF"/>
                    </a:solidFill>
                  </a:tcPr>
                </a:tc>
              </a:tr>
              <a:tr h="1131570">
                <a:tc>
                  <a:txBody>
                    <a:bodyPr/>
                    <a:lstStyle/>
                    <a:p>
                      <a:pPr>
                        <a:defRPr sz="2000" b="1">
                          <a:solidFill>
                            <a:srgbClr val="16304B"/>
                          </a:solidFill>
                          <a:latin typeface="Aptos"/>
                        </a:defRPr>
                      </a:pPr>
                      <a:r>
                        <a:t>Potentiostat software</a:t>
                      </a:r>
                    </a:p>
                  </a:txBody>
                  <a:tcPr marL="137160" marR="137160" marT="82296" marB="82296" anchor="ctr">
                    <a:solidFill>
                      <a:srgbClr val="F2F7F9"/>
                    </a:solidFill>
                  </a:tcPr>
                </a:tc>
                <a:tc>
                  <a:txBody>
                    <a:bodyPr/>
                    <a:lstStyle/>
                    <a:p>
                      <a:pPr>
                        <a:defRPr sz="1800" b="0">
                          <a:solidFill>
                            <a:srgbClr val="4E6171"/>
                          </a:solidFill>
                          <a:latin typeface="Aptos"/>
                        </a:defRPr>
                      </a:pPr>
                      <a:r>
                        <a:t>Plots CV scans and provides peak and baseline analysis.</a:t>
                      </a:r>
                    </a:p>
                  </a:txBody>
                  <a:tcPr marL="137160" marR="137160" marT="82296" marB="82296" anchor="ctr">
                    <a:solidFill>
                      <a:srgbClr val="F2F7F9"/>
                    </a:solidFill>
                  </a:tcPr>
                </a:tc>
              </a:tr>
              <a:tr h="1131570">
                <a:tc>
                  <a:txBody>
                    <a:bodyPr/>
                    <a:lstStyle/>
                    <a:p>
                      <a:pPr>
                        <a:defRPr sz="2000" b="1">
                          <a:solidFill>
                            <a:srgbClr val="16304B"/>
                          </a:solidFill>
                          <a:latin typeface="Aptos"/>
                        </a:defRPr>
                      </a:pPr>
                      <a:r>
                        <a:t>Health prediction research</a:t>
                      </a:r>
                    </a:p>
                  </a:txBody>
                  <a:tcPr marL="137160" marR="137160" marT="82296" marB="82296" anchor="ctr">
                    <a:solidFill>
                      <a:srgbClr val="FFFFFF"/>
                    </a:solidFill>
                  </a:tcPr>
                </a:tc>
                <a:tc>
                  <a:txBody>
                    <a:bodyPr/>
                    <a:lstStyle/>
                    <a:p>
                      <a:pPr>
                        <a:defRPr sz="1800" b="0">
                          <a:solidFill>
                            <a:srgbClr val="4E6171"/>
                          </a:solidFill>
                          <a:latin typeface="Aptos"/>
                        </a:defRPr>
                      </a:pPr>
                      <a:r>
                        <a:t>Trains models on features paired with measured capacity.</a:t>
                      </a:r>
                    </a:p>
                  </a:txBody>
                  <a:tcPr marL="137160" marR="137160" marT="82296" marB="82296" anchor="ctr">
                    <a:solidFill>
                      <a:srgbClr val="FFFFFF"/>
                    </a:solidFill>
                  </a:tcPr>
                </a:tc>
              </a:tr>
              <a:tr h="1131570">
                <a:tc>
                  <a:txBody>
                    <a:bodyPr/>
                    <a:lstStyle/>
                    <a:p>
                      <a:pPr>
                        <a:defRPr sz="2000" b="1">
                          <a:solidFill>
                            <a:srgbClr val="16304B"/>
                          </a:solidFill>
                          <a:latin typeface="Aptos"/>
                        </a:defRPr>
                      </a:pPr>
                      <a:r>
                        <a:t>This Phase 1 prototype</a:t>
                      </a:r>
                    </a:p>
                  </a:txBody>
                  <a:tcPr marL="137160" marR="137160" marT="82296" marB="82296" anchor="ctr">
                    <a:solidFill>
                      <a:srgbClr val="F2F7F9"/>
                    </a:solidFill>
                  </a:tcPr>
                </a:tc>
                <a:tc>
                  <a:txBody>
                    <a:bodyPr/>
                    <a:lstStyle/>
                    <a:p>
                      <a:pPr>
                        <a:defRPr sz="1800" b="0">
                          <a:solidFill>
                            <a:srgbClr val="4E6171"/>
                          </a:solidFill>
                          <a:latin typeface="Aptos"/>
                        </a:defRPr>
                      </a:pPr>
                      <a:r>
                        <a:t>Keeps CV acquisition order, checks support for features, and shows why a value is withheld.</a:t>
                      </a:r>
                    </a:p>
                  </a:txBody>
                  <a:tcPr marL="137160" marR="137160" marT="82296" marB="82296" anchor="ctr">
                    <a:solidFill>
                      <a:srgbClr val="F2F7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Research question and scope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04</a:t>
            </a:r>
          </a:p>
        </p:txBody>
      </p:sp>
      <p:sp>
        <p:nvSpPr>
          <p:cNvPr id="6" name="TextBox 5"/>
          <p:cNvSpPr txBox="1"/>
          <p:nvPr/>
        </p:nvSpPr>
        <p:spPr>
          <a:xfrm>
            <a:off x="731520" y="1316736"/>
            <a:ext cx="10698480" cy="804672"/>
          </a:xfrm>
          <a:prstGeom prst="rect">
            <a:avLst/>
          </a:prstGeom>
          <a:noFill/>
        </p:spPr>
        <p:txBody>
          <a:bodyPr wrap="square" lIns="18288" rIns="18288" tIns="9144" bIns="9144">
            <a:spAutoFit/>
          </a:bodyPr>
          <a:lstStyle/>
          <a:p>
            <a:pPr>
              <a:defRPr sz="2900" b="1">
                <a:solidFill>
                  <a:srgbClr val="16304B"/>
                </a:solidFill>
                <a:latin typeface="Aptos"/>
              </a:defRPr>
            </a:pPr>
            <a:r>
              <a:t>Detect when a CV scan does not support a reported feature</a:t>
            </a:r>
          </a:p>
        </p:txBody>
      </p:sp>
      <p:pic>
        <p:nvPicPr>
          <p:cNvPr id="7" name="Picture 6" descr="00_digital_twin_roadmap.png"/>
          <p:cNvPicPr>
            <a:picLocks noChangeAspect="1"/>
          </p:cNvPicPr>
          <p:nvPr/>
        </p:nvPicPr>
        <p:blipFill>
          <a:blip r:embed="rId3"/>
          <a:stretch>
            <a:fillRect/>
          </a:stretch>
        </p:blipFill>
        <p:spPr>
          <a:xfrm>
            <a:off x="2515655" y="2148840"/>
            <a:ext cx="7166785" cy="405079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Methodology: CV quality gate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05</a:t>
            </a:r>
          </a:p>
        </p:txBody>
      </p:sp>
      <p:pic>
        <p:nvPicPr>
          <p:cNvPr id="6" name="Picture 5" descr="00_measurement_workflow.png"/>
          <p:cNvPicPr>
            <a:picLocks noChangeAspect="1"/>
          </p:cNvPicPr>
          <p:nvPr/>
        </p:nvPicPr>
        <p:blipFill>
          <a:blip r:embed="rId3"/>
          <a:stretch>
            <a:fillRect/>
          </a:stretch>
        </p:blipFill>
        <p:spPr>
          <a:xfrm>
            <a:off x="676656" y="1302188"/>
            <a:ext cx="10835640" cy="512230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Experimental input: one reported CV sweep</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06</a:t>
            </a:r>
          </a:p>
        </p:txBody>
      </p:sp>
      <p:pic>
        <p:nvPicPr>
          <p:cNvPr id="6" name="Picture 5" descr="01_recorded_cv.png"/>
          <p:cNvPicPr>
            <a:picLocks noChangeAspect="1"/>
          </p:cNvPicPr>
          <p:nvPr/>
        </p:nvPicPr>
        <p:blipFill>
          <a:blip r:embed="rId3"/>
          <a:stretch>
            <a:fillRect/>
          </a:stretch>
        </p:blipFill>
        <p:spPr>
          <a:xfrm>
            <a:off x="521207" y="1864235"/>
            <a:ext cx="7434072" cy="4043929"/>
          </a:xfrm>
          <a:prstGeom prst="rect">
            <a:avLst/>
          </a:prstGeom>
        </p:spPr>
      </p:pic>
      <p:sp>
        <p:nvSpPr>
          <p:cNvPr id="7" name="TextBox 6"/>
          <p:cNvSpPr txBox="1"/>
          <p:nvPr/>
        </p:nvSpPr>
        <p:spPr>
          <a:xfrm>
            <a:off x="8193024" y="1700784"/>
            <a:ext cx="3218688" cy="384048"/>
          </a:xfrm>
          <a:prstGeom prst="rect">
            <a:avLst/>
          </a:prstGeom>
          <a:noFill/>
        </p:spPr>
        <p:txBody>
          <a:bodyPr wrap="square" lIns="18288" rIns="18288" tIns="9144" bIns="9144">
            <a:spAutoFit/>
          </a:bodyPr>
          <a:lstStyle/>
          <a:p>
            <a:pPr>
              <a:defRPr sz="2300" b="1">
                <a:solidFill>
                  <a:srgbClr val="1A6EA7"/>
                </a:solidFill>
                <a:latin typeface="Aptos"/>
              </a:defRPr>
            </a:pPr>
            <a:r>
              <a:t>21 measured values</a:t>
            </a:r>
          </a:p>
        </p:txBody>
      </p:sp>
      <p:sp>
        <p:nvSpPr>
          <p:cNvPr id="8" name="TextBox 7"/>
          <p:cNvSpPr txBox="1"/>
          <p:nvPr/>
        </p:nvSpPr>
        <p:spPr>
          <a:xfrm>
            <a:off x="8202168" y="2304288"/>
            <a:ext cx="3182112" cy="3017520"/>
          </a:xfrm>
          <a:prstGeom prst="rect">
            <a:avLst/>
          </a:prstGeom>
          <a:noFill/>
        </p:spPr>
        <p:txBody>
          <a:bodyPr wrap="square" lIns="18288" rIns="18288" tIns="18288" bIns="18288">
            <a:spAutoFit/>
          </a:bodyPr>
          <a:lstStyle/>
          <a:p>
            <a:pPr>
              <a:spcAft>
                <a:spcPts val="1100"/>
              </a:spcAft>
              <a:defRPr sz="1800">
                <a:solidFill>
                  <a:srgbClr val="16304B"/>
                </a:solidFill>
                <a:latin typeface="Aptos"/>
              </a:defRPr>
            </a:pPr>
            <a:r>
              <a:t>Team reports a real CV setup.</a:t>
            </a:r>
          </a:p>
          <a:p>
            <a:pPr>
              <a:spcAft>
                <a:spcPts val="1100"/>
              </a:spcAft>
              <a:defRPr sz="1800">
                <a:solidFill>
                  <a:srgbClr val="16304B"/>
                </a:solidFill>
                <a:latin typeface="Aptos"/>
              </a:defRPr>
            </a:pPr>
            <a:r>
              <a:t>Approximately room temperature.</a:t>
            </a:r>
          </a:p>
          <a:p>
            <a:pPr>
              <a:spcAft>
                <a:spcPts val="1100"/>
              </a:spcAft>
              <a:defRPr sz="1800">
                <a:solidFill>
                  <a:srgbClr val="16304B"/>
                </a:solidFill>
                <a:latin typeface="Aptos"/>
              </a:defRPr>
            </a:pPr>
            <a:r>
              <a:t>Electrodes reported: graphite, platinum and Ag/AgCl. Roles not documented.</a:t>
            </a:r>
          </a:p>
          <a:p>
            <a:pPr>
              <a:spcAft>
                <a:spcPts val="1100"/>
              </a:spcAft>
              <a:defRPr sz="1800">
                <a:solidFill>
                  <a:srgbClr val="16304B"/>
                </a:solidFill>
                <a:latin typeface="Aptos"/>
              </a:defRPr>
            </a:pPr>
            <a:r>
              <a:t>Scan rate and current unit not recorded in the 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Measured result: peak separation withheld</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07</a:t>
            </a:r>
          </a:p>
        </p:txBody>
      </p:sp>
      <p:pic>
        <p:nvPicPr>
          <p:cNvPr id="6" name="Picture 5" descr="04_boundary_extrema.png"/>
          <p:cNvPicPr>
            <a:picLocks noChangeAspect="1"/>
          </p:cNvPicPr>
          <p:nvPr/>
        </p:nvPicPr>
        <p:blipFill>
          <a:blip r:embed="rId3"/>
          <a:stretch>
            <a:fillRect/>
          </a:stretch>
        </p:blipFill>
        <p:spPr>
          <a:xfrm>
            <a:off x="621792" y="1591792"/>
            <a:ext cx="8284464" cy="4506519"/>
          </a:xfrm>
          <a:prstGeom prst="rect">
            <a:avLst/>
          </a:prstGeom>
        </p:spPr>
      </p:pic>
      <p:sp>
        <p:nvSpPr>
          <p:cNvPr id="7" name="TextBox 6"/>
          <p:cNvSpPr txBox="1"/>
          <p:nvPr/>
        </p:nvSpPr>
        <p:spPr>
          <a:xfrm>
            <a:off x="9015984" y="1993392"/>
            <a:ext cx="2432304" cy="411480"/>
          </a:xfrm>
          <a:prstGeom prst="rect">
            <a:avLst/>
          </a:prstGeom>
          <a:noFill/>
        </p:spPr>
        <p:txBody>
          <a:bodyPr wrap="square" lIns="18288" rIns="18288" tIns="9144" bIns="9144">
            <a:spAutoFit/>
          </a:bodyPr>
          <a:lstStyle/>
          <a:p>
            <a:pPr>
              <a:defRPr sz="2300" b="1">
                <a:solidFill>
                  <a:srgbClr val="CC5341"/>
                </a:solidFill>
                <a:latin typeface="Aptos"/>
              </a:defRPr>
            </a:pPr>
            <a:r>
              <a:t>Quality: limited</a:t>
            </a:r>
          </a:p>
        </p:txBody>
      </p:sp>
      <p:sp>
        <p:nvSpPr>
          <p:cNvPr id="8" name="TextBox 7"/>
          <p:cNvSpPr txBox="1"/>
          <p:nvPr/>
        </p:nvSpPr>
        <p:spPr>
          <a:xfrm>
            <a:off x="9015984" y="2651760"/>
            <a:ext cx="2395728" cy="2478024"/>
          </a:xfrm>
          <a:prstGeom prst="rect">
            <a:avLst/>
          </a:prstGeom>
          <a:noFill/>
        </p:spPr>
        <p:txBody>
          <a:bodyPr wrap="square" lIns="18288" rIns="18288" tIns="18288" bIns="18288">
            <a:spAutoFit/>
          </a:bodyPr>
          <a:lstStyle/>
          <a:p>
            <a:pPr>
              <a:spcAft>
                <a:spcPts val="1000"/>
              </a:spcAft>
              <a:defRPr sz="1800">
                <a:solidFill>
                  <a:srgbClr val="16304B"/>
                </a:solidFill>
                <a:latin typeface="Aptos"/>
              </a:defRPr>
            </a:pPr>
            <a:r>
              <a:t>Apparent extrema sit at the scan limits.</a:t>
            </a:r>
          </a:p>
          <a:p>
            <a:pPr>
              <a:spcAft>
                <a:spcPts val="1000"/>
              </a:spcAft>
              <a:defRPr sz="1800">
                <a:solidFill>
                  <a:srgbClr val="16304B"/>
                </a:solidFill>
                <a:latin typeface="Aptos"/>
              </a:defRPr>
            </a:pPr>
            <a:r>
              <a:t>The true peak positions may lie beyond the voltage window.</a:t>
            </a:r>
          </a:p>
          <a:p>
            <a:pPr>
              <a:spcAft>
                <a:spcPts val="1000"/>
              </a:spcAft>
              <a:defRPr sz="1800">
                <a:solidFill>
                  <a:srgbClr val="16304B"/>
                </a:solidFill>
                <a:latin typeface="Aptos"/>
              </a:defRPr>
            </a:pPr>
            <a:r>
              <a:t>The system leaves ΔEp blank and gives the reason.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Controlled test: sensitivity to current noise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08</a:t>
            </a:r>
          </a:p>
        </p:txBody>
      </p:sp>
      <p:pic>
        <p:nvPicPr>
          <p:cNvPr id="6" name="Picture 5" descr="08_simulated_noise.png"/>
          <p:cNvPicPr>
            <a:picLocks noChangeAspect="1"/>
          </p:cNvPicPr>
          <p:nvPr/>
        </p:nvPicPr>
        <p:blipFill>
          <a:blip r:embed="rId3"/>
          <a:stretch>
            <a:fillRect/>
          </a:stretch>
        </p:blipFill>
        <p:spPr>
          <a:xfrm>
            <a:off x="594360" y="1577272"/>
            <a:ext cx="8321040" cy="4526415"/>
          </a:xfrm>
          <a:prstGeom prst="rect">
            <a:avLst/>
          </a:prstGeom>
        </p:spPr>
      </p:pic>
      <p:sp>
        <p:nvSpPr>
          <p:cNvPr id="7" name="TextBox 6"/>
          <p:cNvSpPr txBox="1"/>
          <p:nvPr/>
        </p:nvSpPr>
        <p:spPr>
          <a:xfrm>
            <a:off x="9061704" y="1901952"/>
            <a:ext cx="2286000" cy="365760"/>
          </a:xfrm>
          <a:prstGeom prst="rect">
            <a:avLst/>
          </a:prstGeom>
          <a:noFill/>
        </p:spPr>
        <p:txBody>
          <a:bodyPr wrap="square" lIns="18288" rIns="18288" tIns="9144" bIns="9144">
            <a:spAutoFit/>
          </a:bodyPr>
          <a:lstStyle/>
          <a:p>
            <a:pPr>
              <a:defRPr sz="2200" b="1">
                <a:solidFill>
                  <a:srgbClr val="1A6EA7"/>
                </a:solidFill>
                <a:latin typeface="Aptos"/>
              </a:defRPr>
            </a:pPr>
            <a:r>
              <a:t>At 10% noise</a:t>
            </a:r>
          </a:p>
        </p:txBody>
      </p:sp>
      <p:sp>
        <p:nvSpPr>
          <p:cNvPr id="8" name="TextBox 7"/>
          <p:cNvSpPr txBox="1"/>
          <p:nvPr/>
        </p:nvSpPr>
        <p:spPr>
          <a:xfrm>
            <a:off x="9061704" y="2468880"/>
            <a:ext cx="2286000" cy="475488"/>
          </a:xfrm>
          <a:prstGeom prst="rect">
            <a:avLst/>
          </a:prstGeom>
          <a:noFill/>
        </p:spPr>
        <p:txBody>
          <a:bodyPr wrap="square" lIns="18288" rIns="18288" tIns="9144" bIns="9144">
            <a:spAutoFit/>
          </a:bodyPr>
          <a:lstStyle/>
          <a:p>
            <a:pPr>
              <a:defRPr sz="2900" b="1">
                <a:solidFill>
                  <a:srgbClr val="16304B"/>
                </a:solidFill>
                <a:latin typeface="Aptos"/>
              </a:defRPr>
            </a:pPr>
            <a:r>
              <a:t>10 mV</a:t>
            </a:r>
          </a:p>
        </p:txBody>
      </p:sp>
      <p:sp>
        <p:nvSpPr>
          <p:cNvPr id="9" name="TextBox 8"/>
          <p:cNvSpPr txBox="1"/>
          <p:nvPr/>
        </p:nvSpPr>
        <p:spPr>
          <a:xfrm>
            <a:off x="9061704" y="2926080"/>
            <a:ext cx="2286000" cy="292608"/>
          </a:xfrm>
          <a:prstGeom prst="rect">
            <a:avLst/>
          </a:prstGeom>
          <a:noFill/>
        </p:spPr>
        <p:txBody>
          <a:bodyPr wrap="square" lIns="18288" rIns="18288" tIns="9144" bIns="9144">
            <a:spAutoFit/>
          </a:bodyPr>
          <a:lstStyle/>
          <a:p>
            <a:pPr>
              <a:defRPr sz="1600" b="0">
                <a:solidFill>
                  <a:srgbClr val="4E6171"/>
                </a:solidFill>
                <a:latin typeface="Aptos"/>
              </a:defRPr>
            </a:pPr>
            <a:r>
              <a:t>median absolute error</a:t>
            </a:r>
          </a:p>
        </p:txBody>
      </p:sp>
      <p:sp>
        <p:nvSpPr>
          <p:cNvPr id="10" name="TextBox 9"/>
          <p:cNvSpPr txBox="1"/>
          <p:nvPr/>
        </p:nvSpPr>
        <p:spPr>
          <a:xfrm>
            <a:off x="9061704" y="3675887"/>
            <a:ext cx="2286000" cy="438912"/>
          </a:xfrm>
          <a:prstGeom prst="rect">
            <a:avLst/>
          </a:prstGeom>
          <a:noFill/>
        </p:spPr>
        <p:txBody>
          <a:bodyPr wrap="square" lIns="18288" rIns="18288" tIns="9144" bIns="9144">
            <a:spAutoFit/>
          </a:bodyPr>
          <a:lstStyle/>
          <a:p>
            <a:pPr>
              <a:defRPr sz="2700" b="1">
                <a:solidFill>
                  <a:srgbClr val="16304B"/>
                </a:solidFill>
                <a:latin typeface="Aptos"/>
              </a:defRPr>
            </a:pPr>
            <a:r>
              <a:t>30.5 mV</a:t>
            </a:r>
          </a:p>
        </p:txBody>
      </p:sp>
      <p:sp>
        <p:nvSpPr>
          <p:cNvPr id="11" name="TextBox 10"/>
          <p:cNvSpPr txBox="1"/>
          <p:nvPr/>
        </p:nvSpPr>
        <p:spPr>
          <a:xfrm>
            <a:off x="9061704" y="4133087"/>
            <a:ext cx="2286000" cy="292608"/>
          </a:xfrm>
          <a:prstGeom prst="rect">
            <a:avLst/>
          </a:prstGeom>
          <a:noFill/>
        </p:spPr>
        <p:txBody>
          <a:bodyPr wrap="square" lIns="18288" rIns="18288" tIns="9144" bIns="9144">
            <a:spAutoFit/>
          </a:bodyPr>
          <a:lstStyle/>
          <a:p>
            <a:pPr>
              <a:defRPr sz="1600" b="0">
                <a:solidFill>
                  <a:srgbClr val="4E6171"/>
                </a:solidFill>
                <a:latin typeface="Aptos"/>
              </a:defRPr>
            </a:pPr>
            <a:r>
              <a:t>95th percentile error</a:t>
            </a:r>
          </a:p>
        </p:txBody>
      </p:sp>
      <p:sp>
        <p:nvSpPr>
          <p:cNvPr id="12" name="TextBox 11"/>
          <p:cNvSpPr txBox="1"/>
          <p:nvPr/>
        </p:nvSpPr>
        <p:spPr>
          <a:xfrm>
            <a:off x="9061704" y="4974336"/>
            <a:ext cx="2286000" cy="585216"/>
          </a:xfrm>
          <a:prstGeom prst="rect">
            <a:avLst/>
          </a:prstGeom>
          <a:noFill/>
        </p:spPr>
        <p:txBody>
          <a:bodyPr wrap="square" lIns="18288" rIns="18288" tIns="9144" bIns="9144">
            <a:spAutoFit/>
          </a:bodyPr>
          <a:lstStyle/>
          <a:p>
            <a:pPr>
              <a:defRPr sz="1600" b="0">
                <a:solidFill>
                  <a:srgbClr val="CC5341"/>
                </a:solidFill>
                <a:latin typeface="Aptos"/>
              </a:defRPr>
            </a:pPr>
            <a:r>
              <a:t>Simulation only; 200 replicates per level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Random Forest regression metrics</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09</a:t>
            </a:r>
          </a:p>
        </p:txBody>
      </p:sp>
      <p:sp>
        <p:nvSpPr>
          <p:cNvPr id="6" name="TextBox 5"/>
          <p:cNvSpPr txBox="1"/>
          <p:nvPr/>
        </p:nvSpPr>
        <p:spPr>
          <a:xfrm>
            <a:off x="713232" y="1234440"/>
            <a:ext cx="10680192" cy="393192"/>
          </a:xfrm>
          <a:prstGeom prst="rect">
            <a:avLst/>
          </a:prstGeom>
          <a:noFill/>
        </p:spPr>
        <p:txBody>
          <a:bodyPr wrap="square" lIns="18288" rIns="18288" tIns="9144" bIns="9144">
            <a:spAutoFit/>
          </a:bodyPr>
          <a:lstStyle/>
          <a:p>
            <a:pPr>
              <a:defRPr sz="2000" b="1">
                <a:solidFill>
                  <a:srgbClr val="1A6EA7"/>
                </a:solidFill>
                <a:latin typeface="Aptos"/>
              </a:defRPr>
            </a:pPr>
            <a:r>
              <a:t>Generated-data random split: R² 0.9976, RMSE 1.01 points, MAE 0.75 points</a:t>
            </a:r>
          </a:p>
        </p:txBody>
      </p:sp>
      <p:pic>
        <p:nvPicPr>
          <p:cNvPr id="7" name="Picture 6" descr="11_synthetic_split_comparison.png"/>
          <p:cNvPicPr>
            <a:picLocks noChangeAspect="1"/>
          </p:cNvPicPr>
          <p:nvPr/>
        </p:nvPicPr>
        <p:blipFill>
          <a:blip r:embed="rId3"/>
          <a:stretch>
            <a:fillRect/>
          </a:stretch>
        </p:blipFill>
        <p:spPr>
          <a:xfrm>
            <a:off x="1640950" y="1673352"/>
            <a:ext cx="8833899" cy="46634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Conclusion</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10</a:t>
            </a:r>
          </a:p>
        </p:txBody>
      </p:sp>
      <p:sp>
        <p:nvSpPr>
          <p:cNvPr id="6" name="TextBox 5"/>
          <p:cNvSpPr txBox="1"/>
          <p:nvPr/>
        </p:nvSpPr>
        <p:spPr>
          <a:xfrm>
            <a:off x="768096" y="1389888"/>
            <a:ext cx="10652760" cy="676656"/>
          </a:xfrm>
          <a:prstGeom prst="rect">
            <a:avLst/>
          </a:prstGeom>
          <a:noFill/>
        </p:spPr>
        <p:txBody>
          <a:bodyPr wrap="square" lIns="18288" rIns="18288" tIns="9144" bIns="9144">
            <a:spAutoFit/>
          </a:bodyPr>
          <a:lstStyle/>
          <a:p>
            <a:pPr>
              <a:defRPr sz="3100" b="1">
                <a:solidFill>
                  <a:srgbClr val="16304B"/>
                </a:solidFill>
                <a:latin typeface="Aptos"/>
              </a:defRPr>
            </a:pPr>
            <a:r>
              <a:t>Phase 1 provides a working CV evidence layer.</a:t>
            </a:r>
          </a:p>
        </p:txBody>
      </p:sp>
      <p:sp>
        <p:nvSpPr>
          <p:cNvPr id="7" name="TextBox 6"/>
          <p:cNvSpPr txBox="1"/>
          <p:nvPr/>
        </p:nvSpPr>
        <p:spPr>
          <a:xfrm>
            <a:off x="813816" y="2505456"/>
            <a:ext cx="10607040" cy="2807208"/>
          </a:xfrm>
          <a:prstGeom prst="rect">
            <a:avLst/>
          </a:prstGeom>
          <a:noFill/>
        </p:spPr>
        <p:txBody>
          <a:bodyPr wrap="square" lIns="18288" rIns="18288" tIns="18288" bIns="18288">
            <a:spAutoFit/>
          </a:bodyPr>
          <a:lstStyle/>
          <a:p>
            <a:pPr>
              <a:spcAft>
                <a:spcPts val="2100"/>
              </a:spcAft>
              <a:defRPr sz="2200">
                <a:solidFill>
                  <a:srgbClr val="16304B"/>
                </a:solidFill>
                <a:latin typeface="Aptos"/>
              </a:defRPr>
            </a:pPr>
            <a:r>
              <a:t>The prototype preserves the reported experimental trace and checks sweep quality.</a:t>
            </a:r>
          </a:p>
          <a:p>
            <a:pPr>
              <a:spcAft>
                <a:spcPts val="2100"/>
              </a:spcAft>
              <a:defRPr sz="2200">
                <a:solidFill>
                  <a:srgbClr val="16304B"/>
                </a:solidFill>
                <a:latin typeface="Aptos"/>
              </a:defRPr>
            </a:pPr>
            <a:r>
              <a:t>It correctly withholds peak separation for boundary-limited data.</a:t>
            </a:r>
          </a:p>
          <a:p>
            <a:pPr>
              <a:spcAft>
                <a:spcPts val="2100"/>
              </a:spcAft>
              <a:defRPr sz="2200">
                <a:solidFill>
                  <a:srgbClr val="16304B"/>
                </a:solidFill>
                <a:latin typeface="Aptos"/>
              </a:defRPr>
            </a:pPr>
            <a:r>
              <a:t>The simulation tests extraction sensitivity; the synthetic model audit does not validate SoH.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Future scope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11</a:t>
            </a:r>
          </a:p>
        </p:txBody>
      </p:sp>
      <p:sp>
        <p:nvSpPr>
          <p:cNvPr id="6" name="TextBox 5"/>
          <p:cNvSpPr txBox="1"/>
          <p:nvPr/>
        </p:nvSpPr>
        <p:spPr>
          <a:xfrm>
            <a:off x="758952" y="1380744"/>
            <a:ext cx="10652760" cy="402336"/>
          </a:xfrm>
          <a:prstGeom prst="rect">
            <a:avLst/>
          </a:prstGeom>
          <a:noFill/>
        </p:spPr>
        <p:txBody>
          <a:bodyPr wrap="square" lIns="18288" rIns="18288" tIns="9144" bIns="9144">
            <a:spAutoFit/>
          </a:bodyPr>
          <a:lstStyle/>
          <a:p>
            <a:pPr>
              <a:defRPr sz="2500" b="1">
                <a:solidFill>
                  <a:srgbClr val="1A6EA7"/>
                </a:solidFill>
                <a:latin typeface="Aptos"/>
              </a:defRPr>
            </a:pPr>
            <a:r>
              <a:t>Phase 2: physical validation</a:t>
            </a:r>
          </a:p>
        </p:txBody>
      </p:sp>
      <p:sp>
        <p:nvSpPr>
          <p:cNvPr id="7" name="TextBox 6"/>
          <p:cNvSpPr txBox="1"/>
          <p:nvPr/>
        </p:nvSpPr>
        <p:spPr>
          <a:xfrm>
            <a:off x="795528" y="1929384"/>
            <a:ext cx="10469880" cy="2258568"/>
          </a:xfrm>
          <a:prstGeom prst="rect">
            <a:avLst/>
          </a:prstGeom>
          <a:noFill/>
        </p:spPr>
        <p:txBody>
          <a:bodyPr wrap="square" lIns="18288" rIns="18288" tIns="18288" bIns="18288">
            <a:spAutoFit/>
          </a:bodyPr>
          <a:lstStyle/>
          <a:p>
            <a:pPr>
              <a:spcAft>
                <a:spcPts val="1600"/>
              </a:spcAft>
              <a:defRPr sz="2000">
                <a:solidFill>
                  <a:srgbClr val="16304B"/>
                </a:solidFill>
                <a:latin typeface="Aptos"/>
              </a:defRPr>
            </a:pPr>
            <a:r>
              <a:t>Recover instrument exports, electrode roles, material identity, units and scan rate.</a:t>
            </a:r>
          </a:p>
          <a:p>
            <a:pPr>
              <a:spcAft>
                <a:spcPts val="1600"/>
              </a:spcAft>
              <a:defRPr sz="2000">
                <a:solidFill>
                  <a:srgbClr val="16304B"/>
                </a:solidFill>
                <a:latin typeface="Aptos"/>
              </a:defRPr>
            </a:pPr>
            <a:r>
              <a:t>Repeat CV on identified cells and pair each sweep with measured discharge capacity.</a:t>
            </a:r>
          </a:p>
          <a:p>
            <a:pPr>
              <a:spcAft>
                <a:spcPts val="1600"/>
              </a:spcAft>
              <a:defRPr sz="2000">
                <a:solidFill>
                  <a:srgbClr val="16304B"/>
                </a:solidFill>
                <a:latin typeface="Aptos"/>
              </a:defRPr>
            </a:pPr>
            <a:r>
              <a:t>Test repeatability and any SoH model on entire cells held out from training.</a:t>
            </a:r>
          </a:p>
        </p:txBody>
      </p:sp>
      <p:sp>
        <p:nvSpPr>
          <p:cNvPr id="8" name="TextBox 7"/>
          <p:cNvSpPr txBox="1"/>
          <p:nvPr/>
        </p:nvSpPr>
        <p:spPr>
          <a:xfrm>
            <a:off x="758952" y="4590288"/>
            <a:ext cx="10652760" cy="402336"/>
          </a:xfrm>
          <a:prstGeom prst="rect">
            <a:avLst/>
          </a:prstGeom>
          <a:noFill/>
        </p:spPr>
        <p:txBody>
          <a:bodyPr wrap="square" lIns="18288" rIns="18288" tIns="9144" bIns="9144">
            <a:spAutoFit/>
          </a:bodyPr>
          <a:lstStyle/>
          <a:p>
            <a:pPr>
              <a:defRPr sz="2500" b="1">
                <a:solidFill>
                  <a:srgbClr val="118580"/>
                </a:solidFill>
                <a:latin typeface="Aptos"/>
              </a:defRPr>
            </a:pPr>
            <a:r>
              <a:t>Phase 3: operational twin</a:t>
            </a:r>
          </a:p>
        </p:txBody>
      </p:sp>
      <p:sp>
        <p:nvSpPr>
          <p:cNvPr id="9" name="TextBox 8"/>
          <p:cNvSpPr txBox="1"/>
          <p:nvPr/>
        </p:nvSpPr>
        <p:spPr>
          <a:xfrm>
            <a:off x="795528" y="5157216"/>
            <a:ext cx="10442448" cy="758952"/>
          </a:xfrm>
          <a:prstGeom prst="rect">
            <a:avLst/>
          </a:prstGeom>
          <a:noFill/>
        </p:spPr>
        <p:txBody>
          <a:bodyPr wrap="square" lIns="18288" rIns="18288" tIns="9144" bIns="9144">
            <a:spAutoFit/>
          </a:bodyPr>
          <a:lstStyle/>
          <a:p>
            <a:pPr>
              <a:defRPr sz="2000" b="0">
                <a:solidFill>
                  <a:srgbClr val="16304B"/>
                </a:solidFill>
                <a:latin typeface="Aptos"/>
              </a:defRPr>
            </a:pPr>
            <a:r>
              <a:t>Calibrate a battery-specific state model, update it from new data, and verify it over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References</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RESEARCH PRESENTATION</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12</a:t>
            </a:r>
          </a:p>
        </p:txBody>
      </p:sp>
      <p:sp>
        <p:nvSpPr>
          <p:cNvPr id="6" name="TextBox 5"/>
          <p:cNvSpPr txBox="1"/>
          <p:nvPr/>
        </p:nvSpPr>
        <p:spPr>
          <a:xfrm>
            <a:off x="740664" y="1316736"/>
            <a:ext cx="10652760" cy="5148072"/>
          </a:xfrm>
          <a:prstGeom prst="rect">
            <a:avLst/>
          </a:prstGeom>
          <a:noFill/>
        </p:spPr>
        <p:txBody>
          <a:bodyPr wrap="square" lIns="18288" rIns="18288" tIns="18288" bIns="18288">
            <a:spAutoFit/>
          </a:bodyPr>
          <a:lstStyle/>
          <a:p>
            <a:pPr>
              <a:spcAft>
                <a:spcPts val="1300"/>
              </a:spcAft>
              <a:defRPr sz="1600">
                <a:solidFill>
                  <a:srgbClr val="16304B"/>
                </a:solidFill>
                <a:latin typeface="Aptos"/>
              </a:defRPr>
            </a:pPr>
            <a:r>
              <a:t>Project data and methods. Battery-digital-twin repository: experimental CSV, metadata record, sensor study, and synthetic audit (2026).</a:t>
            </a:r>
          </a:p>
          <a:p>
            <a:pPr>
              <a:spcAft>
                <a:spcPts val="1300"/>
              </a:spcAft>
              <a:defRPr sz="1600">
                <a:solidFill>
                  <a:srgbClr val="16304B"/>
                </a:solidFill>
                <a:latin typeface="Aptos"/>
              </a:defRPr>
            </a:pPr>
            <a:r>
              <a:t>NREL. Battery Lifespan: diagnostics and model-based battery health research. nrel.gov/transportation/battery-lifespan.html</a:t>
            </a:r>
          </a:p>
          <a:p>
            <a:pPr>
              <a:spcAft>
                <a:spcPts val="1300"/>
              </a:spcAft>
              <a:defRPr sz="1600">
                <a:solidFill>
                  <a:srgbClr val="16304B"/>
                </a:solidFill>
                <a:latin typeface="Aptos"/>
              </a:defRPr>
            </a:pPr>
            <a:r>
              <a:t>Elgrishi et al. A Practical Beginner’s Guide to Cyclic Voltammetry. Journal of Chemical Education 95 (2018). DOI: 10.1021/acs.jchemed.7b00361</a:t>
            </a:r>
          </a:p>
          <a:p>
            <a:pPr>
              <a:spcAft>
                <a:spcPts val="1300"/>
              </a:spcAft>
              <a:defRPr sz="1600">
                <a:solidFill>
                  <a:srgbClr val="16304B"/>
                </a:solidFill>
                <a:latin typeface="Aptos"/>
              </a:defRPr>
            </a:pPr>
            <a:r>
              <a:t>Gamry Instruments. Echem Analyst software manual: cyclic voltammetry analysis. gamry.com/assets/Uploads/EchemAnalystSoftwareManual.pdf</a:t>
            </a:r>
          </a:p>
          <a:p>
            <a:pPr>
              <a:spcAft>
                <a:spcPts val="1300"/>
              </a:spcAft>
              <a:defRPr sz="1600">
                <a:solidFill>
                  <a:srgbClr val="16304B"/>
                </a:solidFill>
                <a:latin typeface="Aptos"/>
              </a:defRPr>
            </a:pPr>
            <a:r>
              <a:t>"Battery digital twins: Perspectives on the fusion of models, data and artificial intelligence." Energy and AI 1 (2020). DOI: 10.1016/j.egyai.2020.100016</a:t>
            </a:r>
          </a:p>
          <a:p>
            <a:pPr>
              <a:spcAft>
                <a:spcPts val="1300"/>
              </a:spcAft>
              <a:defRPr sz="1600">
                <a:solidFill>
                  <a:srgbClr val="16304B"/>
                </a:solidFill>
                <a:latin typeface="Aptos"/>
              </a:defRPr>
            </a:pPr>
            <a:r>
              <a:t>"Machine learning pipeline for battery state of health estimation" (2021). arXiv:2102.00837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Electrode materials reported by the team</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13</a:t>
            </a:r>
          </a:p>
        </p:txBody>
      </p:sp>
      <p:pic>
        <p:nvPicPr>
          <p:cNvPr id="6" name="Picture 5" descr="00_electrode_materials.png"/>
          <p:cNvPicPr>
            <a:picLocks noChangeAspect="1"/>
          </p:cNvPicPr>
          <p:nvPr/>
        </p:nvPicPr>
        <p:blipFill>
          <a:blip r:embed="rId3"/>
          <a:stretch>
            <a:fillRect/>
          </a:stretch>
        </p:blipFill>
        <p:spPr>
          <a:xfrm>
            <a:off x="1577691" y="1325880"/>
            <a:ext cx="8978704" cy="5074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Potential sequence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14</a:t>
            </a:r>
          </a:p>
        </p:txBody>
      </p:sp>
      <p:pic>
        <p:nvPicPr>
          <p:cNvPr id="6" name="Picture 5" descr="02_potential_sequence.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Current sequence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15</a:t>
            </a:r>
          </a:p>
        </p:txBody>
      </p:sp>
      <p:pic>
        <p:nvPicPr>
          <p:cNvPr id="6" name="Picture 5" descr="03_current_sequence.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Forward and return current difference</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16</a:t>
            </a:r>
          </a:p>
        </p:txBody>
      </p:sp>
      <p:pic>
        <p:nvPicPr>
          <p:cNvPr id="6" name="Picture 5" descr="05_branch_difference.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Potential sampling steps</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17</a:t>
            </a:r>
          </a:p>
        </p:txBody>
      </p:sp>
      <p:pic>
        <p:nvPicPr>
          <p:cNvPr id="6" name="Picture 5" descr="06_voltage_steps.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Signed path integral</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18</a:t>
            </a:r>
          </a:p>
        </p:txBody>
      </p:sp>
      <p:pic>
        <p:nvPicPr>
          <p:cNvPr id="6" name="Picture 5" descr="07_cumulative_path_integral.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Generated SoH trajectory</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19</a:t>
            </a:r>
          </a:p>
        </p:txBody>
      </p:sp>
      <p:pic>
        <p:nvPicPr>
          <p:cNvPr id="6" name="Picture 5" descr="09_synthetic_soh_trajectory.png"/>
          <p:cNvPicPr>
            <a:picLocks noChangeAspect="1"/>
          </p:cNvPicPr>
          <p:nvPr/>
        </p:nvPicPr>
        <p:blipFill>
          <a:blip r:embed="rId3"/>
          <a:stretch>
            <a:fillRect/>
          </a:stretch>
        </p:blipFill>
        <p:spPr>
          <a:xfrm>
            <a:off x="1402358" y="1325880"/>
            <a:ext cx="9329371" cy="5074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vce_logo.png"/>
          <p:cNvPicPr>
            <a:picLocks noChangeAspect="1"/>
          </p:cNvPicPr>
          <p:nvPr/>
        </p:nvPicPr>
        <p:blipFill>
          <a:blip r:embed="rId2"/>
          <a:stretch>
            <a:fillRect/>
          </a:stretch>
        </p:blipFill>
        <p:spPr>
          <a:xfrm>
            <a:off x="9811512" y="182880"/>
            <a:ext cx="2011680" cy="782544"/>
          </a:xfrm>
          <a:prstGeom prst="rect">
            <a:avLst/>
          </a:prstGeom>
        </p:spPr>
      </p:pic>
      <p:sp>
        <p:nvSpPr>
          <p:cNvPr id="3" name="TextBox 2"/>
          <p:cNvSpPr txBox="1"/>
          <p:nvPr/>
        </p:nvSpPr>
        <p:spPr>
          <a:xfrm>
            <a:off x="621792" y="393192"/>
            <a:ext cx="9034272" cy="667512"/>
          </a:xfrm>
          <a:prstGeom prst="rect">
            <a:avLst/>
          </a:prstGeom>
          <a:noFill/>
        </p:spPr>
        <p:txBody>
          <a:bodyPr wrap="square" lIns="18288" rIns="18288" tIns="9144" bIns="9144">
            <a:spAutoFit/>
          </a:bodyPr>
          <a:lstStyle/>
          <a:p>
            <a:pPr>
              <a:defRPr sz="3100" b="1">
                <a:solidFill>
                  <a:srgbClr val="16304B"/>
                </a:solidFill>
                <a:latin typeface="Aptos"/>
              </a:defRPr>
            </a:pPr>
            <a:r>
              <a:t>Synthetic feature correlations</a:t>
            </a:r>
          </a:p>
        </p:txBody>
      </p:sp>
      <p:sp>
        <p:nvSpPr>
          <p:cNvPr id="4" name="TextBox 3"/>
          <p:cNvSpPr txBox="1"/>
          <p:nvPr/>
        </p:nvSpPr>
        <p:spPr>
          <a:xfrm>
            <a:off x="621792" y="6519672"/>
            <a:ext cx="8503920" cy="201168"/>
          </a:xfrm>
          <a:prstGeom prst="rect">
            <a:avLst/>
          </a:prstGeom>
          <a:noFill/>
        </p:spPr>
        <p:txBody>
          <a:bodyPr wrap="square" lIns="18288" rIns="18288" tIns="9144" bIns="9144">
            <a:spAutoFit/>
          </a:bodyPr>
          <a:lstStyle/>
          <a:p>
            <a:pPr>
              <a:defRPr sz="1000" b="0">
                <a:solidFill>
                  <a:srgbClr val="4E6171"/>
                </a:solidFill>
                <a:latin typeface="Aptos"/>
              </a:defRPr>
            </a:pPr>
            <a:r>
              <a:t>SiNK 2026  ·  FIGURE APPENDIX</a:t>
            </a:r>
          </a:p>
        </p:txBody>
      </p:sp>
      <p:sp>
        <p:nvSpPr>
          <p:cNvPr id="5" name="TextBox 4"/>
          <p:cNvSpPr txBox="1"/>
          <p:nvPr/>
        </p:nvSpPr>
        <p:spPr>
          <a:xfrm>
            <a:off x="11173968" y="6492240"/>
            <a:ext cx="393192" cy="228600"/>
          </a:xfrm>
          <a:prstGeom prst="rect">
            <a:avLst/>
          </a:prstGeom>
          <a:noFill/>
        </p:spPr>
        <p:txBody>
          <a:bodyPr wrap="square" lIns="18288" rIns="18288" tIns="9144" bIns="9144">
            <a:spAutoFit/>
          </a:bodyPr>
          <a:lstStyle/>
          <a:p>
            <a:pPr algn="r">
              <a:defRPr sz="1000" b="0">
                <a:solidFill>
                  <a:srgbClr val="4E6171"/>
                </a:solidFill>
                <a:latin typeface="Aptos"/>
              </a:defRPr>
            </a:pPr>
            <a:r>
              <a:t>20</a:t>
            </a:r>
          </a:p>
        </p:txBody>
      </p:sp>
      <p:pic>
        <p:nvPicPr>
          <p:cNvPr id="6" name="Picture 5" descr="10_synthetic_feature_correlations.png"/>
          <p:cNvPicPr>
            <a:picLocks noChangeAspect="1"/>
          </p:cNvPicPr>
          <p:nvPr/>
        </p:nvPicPr>
        <p:blipFill>
          <a:blip r:embed="rId3"/>
          <a:stretch>
            <a:fillRect/>
          </a:stretch>
        </p:blipFill>
        <p:spPr>
          <a:xfrm>
            <a:off x="1241030" y="1325880"/>
            <a:ext cx="9652027" cy="5074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